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60-second hook. "The UR30 is a 6-axis collaborative robot. We built it a 7th axis — a stepper-driven pump for metal paste dispensing — that takes commands directly from the robot controller in real time. Over the next 15 minutes we'll walk through how we got there, using Bolton's seven-step design process as the backbone."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Motivation. Under-fill during acceleration, over-fill during deceleration — bead quality suffers without coordinated extrusion. No off-the-shelf solution for this in the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RTDE exposes 48 INT + 48 DOUBLE + 64 BOOL registers per direction. All coordination logic — clamping, mode handling, watchdog — lives outside the UR30. Paste dispensing is forgiving compared to FDM; that forgiveness is what makes sub-ms latency unnecessary.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spec in docs/design_specification.md. TBD parameters are bounded with acceptable ranges so design space doesn't collapse while waiting for the motor/pump to arrive.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matrices in trades/*.md. Weighted scoring is important here — we had strong intuition about the winners but wanted to force ourselves to document why alternatives were rejected.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three winners "click" together — RTDE and Klipper are both well-supported on the Raspberry Pi side, and the SKR Pico is Klipper's reference RP2040 board. The coherence is part of why the architecture works.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dotted box around "Pi" hides complexity — inside it are two processes (bridge daemon, klippy) talking over a Unix socket. Pi400 was originally in the path as a slave serial bridge; we removed it after the Klipper trade made direct USB viable.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protection component has a reason: fuse for catastrophic short, TVS for the UR30 power block switching transients, bulk cap for motor current pulses, polyfuse because the Pi GPIO path bypasses the onboard fuse.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Single-threaded, synchronous by design — predictable timing beats throughput. Stateless translator between two async systems. All 479 tests run in ~1.5s, no hardware needed. Figures 2/5/6 live in reports/turn-in/report/figures/ — paste fig5 (components) as main visual, reference fig6 (state machine) in Q&amp;A if asked how fault recovery works.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Klipper lookahead is a latency/precision tradeoff we chose intentionally — at the MCU level, step timing is microsecond-precise even though the Linux host has 1-10 ms scheduling jitter.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exists because software rigor is *the* distinguishing evidence of engineering in a project where most hardware hasn't arrived yet. If asked "how do you know this works?" — the answer is here. The firmware CI is what catches regressions if upstream Klipper reshapes rp2040/main.c between now and submission.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also satisfies the "sensors" element of the ME472 course prompt. The DIAG signal path is hardware-speed detection that survives the 250ms poll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software testing is mock-based — 479 tests run in 1.5s with zero hardware. Hardware-dependent tests wait on the motor/pump delivery.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milestone slide. Land the RTDE trace numbers — the audience sees the bridge saw the commanded rate ramp, the motor moved, the system completed cleanly. The quantitative latency/accuracy plots are deferred to a clean CSV capture run; that's honest Phase 4 status, not a hole.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Hedge honestly — we have a fully validated software stack, a detailed electrical design, and a stretch-goal firmware overlay that's written and unit-tested, but we don't yet have measured latency numbers on the real motor.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Bolton iteration is a feature, not a defect. We wrote about this explicitly in Section H of the report — the specification is better for having been revised.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capstone ends April 23, but the project has a life beyond — particularly the multi-material and URCap work that a future team could pick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Leave 2-3 minutes for Q&amp;A. Likely question topics: latency measurement methodology, why Klipper over ROS/custom, metal paste specifics (defer to instructor-provided info), safety story under fault conditions.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"defense in depth" backup slide. Q&amp;A magnet for "what if X fails" questions. Each row has a concrete handler — pointable to a file:line in the codebase. If pressed, cite docs/design/hitl_plan.md for the full fault matrix.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/>
              <a:t>W26 Cobot Axis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i="1"/>
              <a:t>UR30 7th Axis for Metal Paste Dispensing</a:t>
            </a:r>
          </a:p>
          <a:p>
            <a:pPr/>
            <a:r>
              <a:rPr b="1" sz="1800"/>
              <a:t>ME 472 — Mechatronics, Winter 2026</a:t>
            </a:r>
          </a:p>
          <a:p>
            <a:pPr/>
            <a:r>
              <a:rPr b="1" sz="1800"/>
              <a:t>Willem Bell (Software / EE) · Dawood _____ (Mechanical)</a:t>
            </a:r>
          </a:p>
          <a:p>
            <a:pPr/>
            <a:r>
              <a:rPr b="1" sz="1800"/>
              <a:t>April 24,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/>
              <a:t>The Need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sz="1800"/>
              <a:t>UR30 collaborative robot — no native mechanism for an external coordinated motion axis</a:t>
            </a:r>
          </a:p>
          <a:p>
            <a:pPr lvl="1"/>
            <a:r>
              <a:rPr sz="1800"/>
              <a:t>Metal-paste additive manufacturing requires a pump synchronized to TCP velocity</a:t>
            </a:r>
          </a:p>
          <a:p>
            <a:pPr lvl="1"/>
            <a:r>
              <a:rPr sz="1800"/>
              <a:t>Commercial UR+ accessories: expensive, proprietary, not tuned for paste</a:t>
            </a:r>
          </a:p>
          <a:p>
            <a:pPr lvl="1"/>
            <a:r>
              <a:rPr sz="1800"/>
              <a:t>Digital I/O alternative: on/off only — no speed synchronization</a:t>
            </a:r>
          </a:p>
          <a:p>
            <a:pPr lvl="1"/>
            <a:r>
              <a:rPr b="1" sz="1800"/>
              <a:t>Goal:</a:t>
            </a:r>
            <a:r>
              <a:rPr sz="1800"/>
              <a:t> external stepper axis that takes commands from the UR30 controller in real time, dispenses metal paste, reports status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/>
              <a:t>Problem Analysis — Bolton Step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sz="1800"/>
              <a:t>Only real-time interface out of UR30: </a:t>
            </a:r>
            <a:r>
              <a:rPr b="1" sz="1800"/>
              <a:t>RTDE on TCP port 30004, 500 Hz</a:t>
            </a:r>
            <a:r>
              <a:rPr sz="1800"/>
              <a:t> (register-based, no motion semantics)</a:t>
            </a:r>
          </a:p>
          <a:p>
            <a:pPr lvl="1"/>
            <a:r>
              <a:rPr sz="1800"/>
              <a:t>Latency tolerance: </a:t>
            </a:r>
            <a:r>
              <a:rPr b="1" sz="1800"/>
              <a:t>20 ms worst-case</a:t>
            </a:r>
            <a:r>
              <a:rPr sz="1800"/>
              <a:t> — at 50 mm/s TCP, that's 1.0 mm bead position error (within 1–5 mm bead width)</a:t>
            </a:r>
          </a:p>
          <a:p>
            <a:pPr lvl="1"/>
            <a:r>
              <a:rPr sz="1800"/>
              <a:t>Power: </a:t>
            </a:r>
            <a:r>
              <a:rPr b="1" sz="1800"/>
              <a:t>2 A continuous / 3.5 A burst @ 24 V</a:t>
            </a:r>
            <a:r>
              <a:rPr sz="1800"/>
              <a:t> from UR30 controller — hard limit</a:t>
            </a:r>
          </a:p>
          <a:p>
            <a:pPr lvl="1"/>
            <a:r>
              <a:rPr sz="1800"/>
              <a:t>Failure modes: RTDE loss, stepper stall, 24 V fault, Klipper crash, USB disconnect — all must drive safe-state within one RTDE cycle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/>
              <a:t>Design Specification — Bolton Step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b="1" sz="1800"/>
              <a:t>25 functional requirements</a:t>
            </a:r>
            <a:r>
              <a:rPr sz="1800"/>
              <a:t> (FR-01 through FR-25) — extrusion control, status, safety, homing, connection management</a:t>
            </a:r>
          </a:p>
          <a:p>
            <a:pPr lvl="1"/>
            <a:r>
              <a:rPr b="1" sz="1800"/>
              <a:t>10 constraints</a:t>
            </a:r>
            <a:r>
              <a:rPr sz="1800"/>
              <a:t> (C-01 through C-10) — power, driver limits, platform choices</a:t>
            </a:r>
          </a:p>
          <a:p>
            <a:pPr lvl="1"/>
            <a:r>
              <a:rPr sz="1800"/>
              <a:t>Performance targets: P95 latency &lt; 20 ms, e-stop &lt; 1 RTDE cycle, watchdog 500 ms</a:t>
            </a:r>
          </a:p>
          <a:p>
            <a:pPr lvl="1"/>
            <a:r>
              <a:rPr b="1" sz="1800"/>
              <a:t>6 output + 5 input</a:t>
            </a:r>
            <a:r>
              <a:rPr sz="1800"/>
              <a:t> RTDE registers allocated (minimal; ample headroom)</a:t>
            </a:r>
          </a:p>
          <a:p>
            <a:pPr lvl="1"/>
            <a:r>
              <a:rPr sz="1800"/>
              <a:t>Parameters awaiting hardware: motor current/torque, pump displacement, paste viscosity — bounded ranges only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/>
              <a:t>Solution Space — Bolton Step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Three weighted-scoring trade studies:</a:t>
            </a:r>
          </a:p>
          <a:p>
            <a:pPr/>
            <a:r>
              <a:rPr sz="1800"/>
              <a:t>Each scored against criteria weighted by update rate, latency, ecosystem, development time, cost</a:t>
            </a:r>
          </a:p>
          <a:p>
            <a:pPr lvl="1"/>
            <a:r>
              <a:rPr b="1" sz="1800"/>
              <a:t>Comm protocol:</a:t>
            </a:r>
            <a:r>
              <a:rPr sz="1800"/>
              <a:t> RTDE vs Modbus TCP vs Primary Interface vs URScript Socket vs XML-RPC vs Dashboard</a:t>
            </a:r>
          </a:p>
          <a:p>
            <a:pPr lvl="1"/>
            <a:r>
              <a:rPr b="1" sz="1800"/>
              <a:t>Firmware framework:</a:t>
            </a:r>
            <a:r>
              <a:rPr sz="1800"/>
              <a:t> Klipper vs Lingua Franca</a:t>
            </a:r>
          </a:p>
          <a:p>
            <a:pPr lvl="1"/>
            <a:r>
              <a:rPr b="1" sz="1800"/>
              <a:t>MCU platform:</a:t>
            </a:r>
            <a:r>
              <a:rPr sz="1800"/>
              <a:t> BTT SKR Pico vs raw RP2040 Pico vs Arduino + CNC Shield vs Teensy 4.1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/>
              <a:t>Trade Study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sz="1800"/>
              <a:t>RTDE: native UR30 support, 500 Hz, bidirectional</a:t>
            </a:r>
          </a:p>
          <a:p>
            <a:pPr lvl="1"/>
            <a:r>
              <a:rPr sz="1800"/>
              <a:t>Klipper: proven motion planning + 100 ms lookahead buffer</a:t>
            </a:r>
          </a:p>
          <a:p>
            <a:pPr lvl="1"/>
            <a:r>
              <a:rPr sz="1800"/>
              <a:t>SKR Pico: TMC2209 soldered, Klipper-native, on hand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560320"/>
          <a:ext cx="8229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Decision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Winner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Runner-up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Score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Comm protocol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200"/>
                        <a:t>RTDE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Modbus TCP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3.30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Firmware framework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200"/>
                        <a:t>Klipper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Lingua Franca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1.95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MCU platform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200"/>
                        <a:t>SKR Pico V1.0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5.00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Raw RP2040 Pico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3.00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/>
              <a:t>Selected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```</a:t>
            </a:r>
          </a:p>
          <a:p>
            <a:pPr/>
            <a:r>
              <a:rPr sz="1800"/>
              <a:t>UR30 ──RTDE/TCP 500 Hz──▶ Pi (bridge daemon + Klipper) ──USB 12 Mbps──▶ SKR Pico ──STEP/DIR──▶ TMC2209 ──▶ Stepper ──▶ Pump</a:t>
            </a:r>
          </a:p>
          <a:p>
            <a:pPr/>
            <a:r>
              <a:rPr sz="1800"/>
              <a:t>```</a:t>
            </a:r>
          </a:p>
          <a:p>
            <a:pPr lvl="1"/>
            <a:r>
              <a:rPr b="1" sz="1800"/>
              <a:t>UR30:</a:t>
            </a:r>
            <a:r>
              <a:rPr sz="1800"/>
              <a:t> URScript on teach pendant writes RTDE output registers (int 12, doubles 12/13)</a:t>
            </a:r>
          </a:p>
          <a:p>
            <a:pPr lvl="1"/>
            <a:r>
              <a:rPr b="1" sz="1800"/>
              <a:t>Pi:</a:t>
            </a:r>
            <a:r>
              <a:rPr sz="1800"/>
              <a:t> Python bridge daemon (125 Hz) + Klipper host (100 ms lookahead) + Unix socket to klippy</a:t>
            </a:r>
          </a:p>
          <a:p>
            <a:pPr lvl="1"/>
            <a:r>
              <a:rPr b="1" sz="1800"/>
              <a:t>SKR Pico (RP2040):</a:t>
            </a:r>
            <a:r>
              <a:rPr sz="1800"/>
              <a:t> Klipper MCU firmware, 4x TMC2209 soldered, USB-C + 24 V in</a:t>
            </a:r>
          </a:p>
          <a:p>
            <a:pPr lvl="1"/>
            <a:r>
              <a:rPr b="1" sz="1800"/>
              <a:t>Feedback:</a:t>
            </a:r>
            <a:r>
              <a:rPr sz="1800"/>
              <a:t> RTDE input registers (status, error code, actual rate, StallGuard load)</a:t>
            </a:r>
          </a:p>
          <a:p>
            <a:pPr lvl="1"/>
            <a:r>
              <a:rPr b="1" sz="1800"/>
              <a:t>Lab network:</a:t>
            </a:r>
            <a:r>
              <a:rPr sz="1800"/>
              <a:t> unmanaged gigabit switch (L2 only, no DHCP / no router); static IPs; UR30 inbound whitelist at `.4/32` forces Pi to `192.168.0.4`</a:t>
            </a:r>
          </a:p>
          <a:p>
            <a:pPr lvl="1"/>
            <a:r>
              <a:rPr b="1" sz="1800"/>
              <a:t>Pi400:</a:t>
            </a:r>
            <a:r>
              <a:rPr sz="1800"/>
              <a:t> optional HMI / SSH / Mainsail — not in the real-time loop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/>
              <a:t>Electrical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b="1" sz="1800"/>
              <a:t>Budget: 1.0 A typical / 1.4 A peak at 24 V</a:t>
            </a:r>
            <a:r>
              <a:rPr sz="1800"/>
              <a:t> — fits in 2 A UR30 continuous limit with 1 A margin</a:t>
            </a:r>
          </a:p>
          <a:p>
            <a:pPr lvl="1"/>
            <a:r>
              <a:rPr b="1" sz="1800"/>
              <a:t>24 V from UR30 power block</a:t>
            </a:r>
            <a:r>
              <a:rPr sz="1800"/>
              <a:t> → 3 A fuse → SMBJ24CA TVS → 100 µF bulk cap</a:t>
            </a:r>
          </a:p>
          <a:p>
            <a:pPr lvl="1"/>
            <a:r>
              <a:rPr b="1" sz="1800"/>
              <a:t>Direct to SKR Pico VIN</a:t>
            </a:r>
            <a:r>
              <a:rPr sz="1800"/>
              <a:t> (logic + TMC2209 VMOT)</a:t>
            </a:r>
          </a:p>
          <a:p>
            <a:pPr lvl="1"/>
            <a:r>
              <a:rPr b="1" sz="1800"/>
              <a:t>Pololu D24V22F5 buck</a:t>
            </a:r>
            <a:r>
              <a:rPr sz="1800"/>
              <a:t> → 5.1 V @ 2.2 A → Pi GPIO header (behind 2 A PTC polyfuse)</a:t>
            </a:r>
          </a:p>
          <a:p>
            <a:pPr lvl="1"/>
            <a:r>
              <a:rPr sz="1800"/>
              <a:t>Signal: Ethernet (RTDE), USB-C (Klipper serial), 4-wire motor cable</a:t>
            </a:r>
          </a:p>
          <a:p>
            <a:pPr lvl="1"/>
            <a:r>
              <a:rPr sz="1800"/>
              <a:t>Pin assignments: gpio14 STEP, gpio13 DIR, gpio15 EN, UART addr 3 (gpio8/9)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/>
              <a:t>Software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b="1" sz="1800"/>
              <a:t>URScript</a:t>
            </a:r>
            <a:r>
              <a:rPr sz="1800"/>
              <a:t> on UR30: writes mode/rate/enable/e-stop/home to output registers at 500 Hz</a:t>
            </a:r>
          </a:p>
          <a:p>
            <a:pPr lvl="1"/>
            <a:r>
              <a:rPr b="1" sz="1800"/>
              <a:t>Bridge daemon</a:t>
            </a:r>
            <a:r>
              <a:rPr sz="1800"/>
              <a:t> (Python, 11 modules, </a:t>
            </a:r>
            <a:r>
              <a:rPr b="1" sz="1800"/>
              <a:t>479 tests, 100 % coverage</a:t>
            </a:r>
            <a:r>
              <a:rPr sz="1800"/>
              <a:t>):</a:t>
            </a:r>
          </a:p>
          <a:p>
            <a:pPr lvl="1"/>
            <a:r>
              <a:rPr sz="1800"/>
              <a:t>`rtde_client` (reads) → `bridge_daemon` state machine → `klipper_client` (writes G-code)</a:t>
            </a:r>
          </a:p>
          <a:p>
            <a:pPr lvl="1"/>
            <a:r>
              <a:rPr sz="1800"/>
              <a:t>`watchdog` stops stepper if no RTDE data in 500 ms</a:t>
            </a:r>
          </a:p>
          <a:p>
            <a:pPr lvl="1"/>
            <a:r>
              <a:rPr sz="1800"/>
              <a:t>`extrusion_profile` — linear / polynomial / lookup-table rate shaping</a:t>
            </a:r>
          </a:p>
          <a:p>
            <a:pPr lvl="1"/>
            <a:r>
              <a:rPr sz="1800"/>
              <a:t>`klipper_status` polls TMC2209 diagnostics at 20 Hz</a:t>
            </a:r>
          </a:p>
          <a:p>
            <a:pPr lvl="1"/>
            <a:r>
              <a:rPr b="1" sz="1800"/>
              <a:t>Klipper</a:t>
            </a:r>
            <a:r>
              <a:rPr sz="1800"/>
              <a:t> on Pi: motion planning + 100 ms MCU lookahead buffer</a:t>
            </a:r>
          </a:p>
          <a:p>
            <a:pPr lvl="1"/>
            <a:r>
              <a:rPr b="1" sz="1800"/>
              <a:t>Klipper firmware</a:t>
            </a:r>
            <a:r>
              <a:rPr sz="1800"/>
              <a:t> on RP2040: 16x microstepping, StealthChop mode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/>
              <a:t>Latency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sz="1800"/>
              <a:t>20 ms × 50 mm/s = </a:t>
            </a:r>
            <a:r>
              <a:rPr b="1" sz="1800"/>
              <a:t>1.0 mm</a:t>
            </a:r>
            <a:r>
              <a:rPr sz="1800"/>
              <a:t> bead position error — within tolerance</a:t>
            </a:r>
          </a:p>
          <a:p>
            <a:pPr lvl="1"/>
            <a:r>
              <a:rPr sz="1800"/>
              <a:t>Klipper's 100 ms lookahead </a:t>
            </a:r>
            <a:r>
              <a:rPr i="1" sz="1800"/>
              <a:t>adds</a:t>
            </a:r>
            <a:r>
              <a:rPr sz="1800"/>
              <a:t> latency but </a:t>
            </a:r>
            <a:r>
              <a:rPr b="1" sz="1800"/>
              <a:t>eliminates step-timing jitter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560320"/>
          <a:ext cx="8229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Segment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Typical (ms)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Worst (ms)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UR30 RTDE cycle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0–2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Ethernet + switch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0.1–0.5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Bridge (Python)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0.5–2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Klipper host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0.5–2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USB serial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1–3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MCU step gen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&lt;0.1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b="1" sz="120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200"/>
                        <a:t>~5–8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200"/>
                        <a:t>~20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/>
              <a:t>Software Quality and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b="1" sz="1800"/>
              <a:t>479 unit + integration tests</a:t>
            </a:r>
            <a:r>
              <a:rPr sz="1800"/>
              <a:t> across 10 files, </a:t>
            </a:r>
            <a:r>
              <a:rPr b="1" sz="1800"/>
              <a:t>100 % coverage</a:t>
            </a:r>
            <a:r>
              <a:rPr sz="1800"/>
              <a:t> on every bridge module</a:t>
            </a:r>
          </a:p>
          <a:p>
            <a:pPr lvl="1"/>
            <a:r>
              <a:rPr sz="1800"/>
              <a:t>Ruff clean; strict type checking; zero `TODO`/`FIXME` in production code</a:t>
            </a:r>
          </a:p>
          <a:p>
            <a:pPr lvl="1"/>
            <a:r>
              <a:rPr b="1" sz="1800"/>
              <a:t>Firmware CI quality gates</a:t>
            </a:r>
            <a:r>
              <a:rPr sz="1800"/>
              <a:t> (per-commit):</a:t>
            </a:r>
          </a:p>
          <a:p>
            <a:pPr lvl="1"/>
            <a:r>
              <a:rPr sz="1800"/>
              <a:t>`cppcheck` static analysis on the Core1 StallGuard overlay</a:t>
            </a:r>
          </a:p>
          <a:p>
            <a:pPr lvl="1"/>
            <a:r>
              <a:rPr sz="1800"/>
              <a:t>LTO-aware symbol verification (compiled symbol names survive Link-Time Optimization)</a:t>
            </a:r>
          </a:p>
          <a:p>
            <a:pPr lvl="1"/>
            <a:r>
              <a:rPr sz="1800"/>
              <a:t>Stack-usage analysis (`-fstack-usage` on overlay entry points)</a:t>
            </a:r>
          </a:p>
          <a:p>
            <a:pPr lvl="1"/>
            <a:r>
              <a:rPr sz="1800"/>
              <a:t>SRAM + flash budget gates (fails CI if overlay pushes over 200 KB / 1.9 MB)</a:t>
            </a:r>
          </a:p>
          <a:p>
            <a:pPr lvl="1"/>
            <a:r>
              <a:rPr b="1" sz="1800"/>
              <a:t>Weekly patch-freshness cron</a:t>
            </a:r>
            <a:r>
              <a:rPr sz="1800"/>
              <a:t> re-applies the StallGuard overlay against upstream Klipper → catches drift before it breaks our build</a:t>
            </a:r>
          </a:p>
          <a:p>
            <a:pPr lvl="1"/>
            <a:r>
              <a:rPr sz="1800"/>
              <a:t>Hardware-free dev loop: `FakeKlippy` mocks + `ur_rtde` stub → 479 tests run in ~1.5 s with zero hardware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/>
              <a:t>Stretch Goal: StallGuard Torque Feedback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sz="1800"/>
              <a:t>TMC2209 has a </a:t>
            </a:r>
            <a:r>
              <a:rPr b="1" sz="1800"/>
              <a:t>DIAG pin</a:t>
            </a:r>
            <a:r>
              <a:rPr sz="1800"/>
              <a:t> that asserts in microseconds when load crosses the StallGuard threshold</a:t>
            </a:r>
          </a:p>
          <a:p>
            <a:pPr lvl="1"/>
            <a:r>
              <a:rPr sz="1800"/>
              <a:t>Klipper polls over UART at ~4 Hz — </a:t>
            </a:r>
            <a:r>
              <a:rPr b="1" sz="1800"/>
              <a:t>250 ms blind window</a:t>
            </a:r>
            <a:r>
              <a:rPr sz="1800"/>
              <a:t> for stall damage</a:t>
            </a:r>
          </a:p>
          <a:p>
            <a:pPr lvl="1"/>
            <a:r>
              <a:rPr b="1" sz="1800"/>
              <a:t>Our solution:</a:t>
            </a:r>
            <a:r>
              <a:rPr sz="1800"/>
              <a:t> dedicated firmware on RP2040's idle </a:t>
            </a:r>
            <a:r>
              <a:rPr b="1" sz="1800"/>
              <a:t>Core1</a:t>
            </a:r>
          </a:p>
          <a:p>
            <a:pPr lvl="1"/>
            <a:r>
              <a:rPr sz="1800"/>
              <a:t>Core1 monitors DIAG pin in hardware, debounces, stores event + timestamp in shared SRAM</a:t>
            </a:r>
          </a:p>
          <a:p>
            <a:pPr lvl="1"/>
            <a:r>
              <a:rPr sz="1800"/>
              <a:t>Core0 (Klipper) serves `stallguard_query` / `stallguard_clear` MCU commands</a:t>
            </a:r>
          </a:p>
          <a:p>
            <a:pPr lvl="1"/>
            <a:r>
              <a:rPr sz="1800"/>
              <a:t>Klippy extras module polls at 20 Hz → RTDE input register → URScript can halt robot on stall</a:t>
            </a:r>
          </a:p>
          <a:p>
            <a:pPr lvl="1"/>
            <a:r>
              <a:rPr sz="1800"/>
              <a:t>Safe spinlock #16, zero impact on Klipper step timing</a:t>
            </a:r>
          </a:p>
          <a:p>
            <a:pPr lvl="1"/>
            <a:r>
              <a:rPr sz="1800"/>
              <a:t>Validated by `docs/design/hitl_plan.md` TP-06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/>
              <a:t>Testing and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b="1" sz="1800"/>
              <a:t>Functional:</a:t>
            </a:r>
            <a:r>
              <a:rPr sz="1800"/>
              <a:t> `test_basic.script` — 9 sub-tests (init, enable, extrude, retract, home, e-stop, speed-sync, fault, status)</a:t>
            </a:r>
          </a:p>
          <a:p>
            <a:pPr lvl="1"/>
            <a:r>
              <a:rPr b="1" sz="1800"/>
              <a:t>Latency:</a:t>
            </a:r>
            <a:r>
              <a:rPr sz="1800"/>
              <a:t> oscilloscope from UR30 digital output to SKR Pico gpio14 step pulse</a:t>
            </a:r>
          </a:p>
          <a:p>
            <a:pPr lvl="1"/>
            <a:r>
              <a:rPr b="1" sz="1800"/>
              <a:t>Accuracy:</a:t>
            </a:r>
            <a:r>
              <a:rPr sz="1800"/>
              <a:t> commanded vs measured rate @ 5, 10, 25, 50 mm/s; gravimetric paste dispensed</a:t>
            </a:r>
          </a:p>
          <a:p>
            <a:pPr lvl="1"/>
            <a:r>
              <a:rPr b="1" sz="1800"/>
              <a:t>Fault injection:</a:t>
            </a:r>
            <a:r>
              <a:rPr sz="1800"/>
              <a:t> RTDE disconnect, Klipper shutdown, stall, power loss</a:t>
            </a:r>
          </a:p>
          <a:p>
            <a:pPr lvl="1"/>
            <a:r>
              <a:rPr b="1" sz="1800"/>
              <a:t>Stretch:</a:t>
            </a:r>
            <a:r>
              <a:rPr sz="1800"/>
              <a:t> StallGuard HITL (TP-06) — DIAG event reaches URScript in ≤ 100 ms</a:t>
            </a:r>
          </a:p>
          <a:p>
            <a:pPr lvl="1"/>
            <a:r>
              <a:rPr sz="1800"/>
              <a:t>CI/CD: Tier 1 lint+test+shellcheck on every commit; Tier 2 firmware cross-compile; weekly patch-freshness against upstream Klipper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/>
              <a:t>Measured Performance (Phase 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b="1" sz="1800"/>
              <a:t>First end-to-end motor spin achieved 2026-04-22</a:t>
            </a:r>
            <a:r>
              <a:rPr sz="1800"/>
              <a:t> — URScript drives the pump shaft through the full chain.</a:t>
            </a:r>
          </a:p>
          <a:p>
            <a:pPr/>
            <a:r>
              <a:rPr sz="1800"/>
              <a:t>RTDE register trace captured live during the spin (bridge at `192.168.0.4` polling UR30 at `192.168.0.3`):</a:t>
            </a:r>
          </a:p>
          <a:p>
            <a:pPr/>
            <a:r>
              <a:rPr sz="1800"/>
              <a:t>```</a:t>
            </a:r>
          </a:p>
          <a:p>
            <a:pPr/>
            <a:r>
              <a:rPr sz="1800"/>
              <a:t>t = 0.0 s   mode = 0   rate = 0.000 mm/s    (idle)</a:t>
            </a:r>
          </a:p>
          <a:p>
            <a:pPr/>
            <a:r>
              <a:rPr sz="1800"/>
              <a:t>t = 1.2 s   mode = 1   rate = 0.200 mm/s    ┐</a:t>
            </a:r>
          </a:p>
          <a:p>
            <a:pPr/>
            <a:r>
              <a:rPr sz="1800"/>
              <a:t>t = 2.1 s   mode = 1   rate = 2.000 mm/s    │ ramp 0 → 4 mm/s over 2 s</a:t>
            </a:r>
          </a:p>
          <a:p>
            <a:pPr/>
            <a:r>
              <a:rPr sz="1800"/>
              <a:t>t = 3.1 s   mode = 1   rate = 4.000 mm/s    ┘</a:t>
            </a:r>
          </a:p>
          <a:p>
            <a:pPr/>
            <a:r>
              <a:rPr sz="1800"/>
              <a:t>(hold 5 s at 4 mm/s — motor rotating visibly)</a:t>
            </a:r>
          </a:p>
          <a:p>
            <a:pPr/>
            <a:r>
              <a:rPr sz="1800"/>
              <a:t>t = 8.2 s   mode = 0   rate = 0.000 mm/s    (disengaged, clean return)</a:t>
            </a:r>
          </a:p>
          <a:p>
            <a:pPr/>
            <a:r>
              <a:rPr sz="1800"/>
              <a:t>```</a:t>
            </a:r>
          </a:p>
          <a:p>
            <a:pPr/>
            <a:r>
              <a:rPr sz="1800"/>
              <a:t>Klipper's `print_time` advanced ~45 s of MANUAL_STEPPER moves; `buffer_time` peaked at 9.7 s then drained cleanly. No bridge errors.</a:t>
            </a:r>
          </a:p>
          <a:p>
            <a:pPr lvl="1"/>
            <a:r>
              <a:rPr b="1" sz="1800"/>
              <a:t>Quantitative latency + accuracy capture deferred</a:t>
            </a:r>
            <a:r>
              <a:rPr sz="1800"/>
              <a:t> to a follow-on CSV run; the Figure 8 / 10 bar charts and scatter are blocked on that data.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/>
              <a:t>Results vs Specification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b="1" sz="1800"/>
              <a:t>Status:</a:t>
            </a:r>
            <a:r>
              <a:rPr sz="1800"/>
              <a:t> software and firmware complete; hardware integration pending motor/pump delivery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560320"/>
          <a:ext cx="82296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Result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End-to-end latency &lt; 20 ms P95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5–8 ms predicted; measurement from Phase 4 (see prior slide)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E-stop response &lt; 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Implemented; measurement deferred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Watchdog &lt; 500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Implemented, 100 % tested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Power draw &lt; 2 A @ 24 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1.0 A typ / 1.4 A peak predicted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Speed accuracy &lt; 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Phase 4 (see prior slide)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479 unit tests @ 100 % coverage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200"/>
                        <a:t>Achieved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/>
              <a:t>Lessons Learned — Bolton Process in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sz="1800"/>
              <a:t>Step 2 ↔ Step 4 iteration was real: the original "slave Pi as serial bridge" architecture died once the Klipper trade study made direct USB viable → saved 0.12 A, one point of failure</a:t>
            </a:r>
          </a:p>
          <a:p>
            <a:pPr lvl="1"/>
            <a:r>
              <a:rPr sz="1800"/>
              <a:t>Specification tightened after driver research: TMC2209 is </a:t>
            </a:r>
            <a:r>
              <a:rPr b="1" sz="1800"/>
              <a:t>thermally limited to 0.8 A</a:t>
            </a:r>
            <a:r>
              <a:rPr sz="1800"/>
              <a:t> without cooling, not 1.2 A — forced a cooling-fan line item</a:t>
            </a:r>
          </a:p>
          <a:p>
            <a:pPr lvl="1"/>
            <a:r>
              <a:rPr sz="1800"/>
              <a:t>Hardware-free development is viable: `FakeKlippy` mocks + `ur_rtde` stub → 479 tests run with zero hardware in 1.5 s</a:t>
            </a:r>
          </a:p>
          <a:p>
            <a:pPr lvl="1"/>
            <a:r>
              <a:rPr sz="1800"/>
              <a:t>CI/CD pays for itself: patch-freshness workflow catches Klipper upstream drift weekly before it breaks our overlay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/>
              <a:t>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sz="1800"/>
              <a:t>Full pump + paste characterization on delivered hardware</a:t>
            </a:r>
          </a:p>
          <a:p>
            <a:pPr lvl="1"/>
            <a:r>
              <a:rPr sz="1800"/>
              <a:t>Measured latency + accuracy numbers (Phase 4 completion)</a:t>
            </a:r>
          </a:p>
          <a:p>
            <a:pPr lvl="1"/>
            <a:r>
              <a:rPr sz="1800"/>
              <a:t>Multi-material support (swap paste cartridges mid-print)</a:t>
            </a:r>
          </a:p>
          <a:p>
            <a:pPr lvl="1"/>
            <a:r>
              <a:rPr sz="1800"/>
              <a:t>URCap for teach-pendant UI (Java SDK, not needed for MVP)</a:t>
            </a:r>
          </a:p>
          <a:p>
            <a:pPr lvl="1"/>
            <a:r>
              <a:rPr sz="1800"/>
              <a:t>Predictive G-code timeshifting using Klipper's 100 ms lookahead buffer</a:t>
            </a:r>
          </a:p>
          <a:p>
            <a:pPr lvl="1"/>
            <a:r>
              <a:rPr sz="1800"/>
              <a:t>Production StallGuard tuning with real paste loads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/>
              <a:t>Thank You — Questions?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b="1" sz="1800"/>
              <a:t>Repo:</a:t>
            </a:r>
            <a:r>
              <a:rPr sz="1800"/>
              <a:t> github.com/wrbell/W26-Cobot-Axis</a:t>
            </a:r>
          </a:p>
          <a:p>
            <a:pPr/>
            <a:r>
              <a:rPr b="1" sz="1800"/>
              <a:t>Team:</a:t>
            </a:r>
            <a:r>
              <a:rPr sz="1800"/>
              <a:t> Willem Bell (Software/EE) · Dawood _____ (Mechanical)</a:t>
            </a:r>
          </a:p>
          <a:p>
            <a:pPr/>
            <a:r>
              <a:rPr b="1" sz="1800"/>
              <a:t>Advisor:</a:t>
            </a:r>
            <a:r>
              <a:rPr sz="1800"/>
              <a:t> Prof. Pannier</a:t>
            </a:r>
          </a:p>
          <a:p>
            <a:pPr/>
            <a:r>
              <a:rPr sz="1800"/>
              <a:t>Key references:</a:t>
            </a:r>
          </a:p>
          <a:p>
            <a:pPr lvl="1"/>
            <a:r>
              <a:rPr sz="1800"/>
              <a:t>W. Bolton, </a:t>
            </a:r>
            <a:r>
              <a:rPr i="1" sz="1800"/>
              <a:t>Mechatronics</a:t>
            </a:r>
            <a:r>
              <a:rPr sz="1800"/>
              <a:t>, 7th ed., Pearson, 2019</a:t>
            </a:r>
          </a:p>
          <a:p>
            <a:pPr lvl="1"/>
            <a:r>
              <a:rPr sz="1800"/>
              <a:t>SDU Robotics, </a:t>
            </a:r>
            <a:r>
              <a:rPr i="1" sz="1800"/>
              <a:t>ur_rtde</a:t>
            </a:r>
            <a:r>
              <a:rPr sz="1800"/>
              <a:t> library</a:t>
            </a:r>
          </a:p>
          <a:p>
            <a:pPr lvl="1"/>
            <a:r>
              <a:rPr sz="1800"/>
              <a:t>Klipper3D documentation</a:t>
            </a:r>
          </a:p>
          <a:p>
            <a:pPr lvl="1"/>
            <a:r>
              <a:rPr sz="1800"/>
              <a:t>BTT SKR Pico V1.0 user manual; Trinamic TMC2209 datasheet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/>
              <a:t>Backup: Bill of Materials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Full BOM with DigiKey/Newark part numbers: `docs/phase2/bom.md`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560320"/>
          <a:ext cx="8229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Items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Cost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Electronics (Pi, buck, switch, cables)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$148.79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Protection + passives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$3.65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Wiring + connectors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$30.45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On hand (SKR Pico, Pi 400, PSU)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$0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Provided (motor, pump)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$0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3D-printed (enclosure, mount, clips)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$0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b="1" sz="120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200"/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200"/>
                        <a:t>~$183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/>
              <a:t>Backup: Power Budget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45920"/>
          <a:ext cx="8229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Device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Idle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Typical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Peak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Notes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Pi (via buck, 90% eff)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0.15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0.35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0.45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1.5 A @ 5.1 V design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SKR Pico (logic)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0.05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0.08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0.10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RP2040 + TMC2209 quiescent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Stepper motor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0.10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0.50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1.00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TBD placeholder NEMA 17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Cooling fan (opt.)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0.00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0.04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0.08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If TMC2209 cooling required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b="1" sz="120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200"/>
                        <a:t>0.30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200"/>
                        <a:t>~0.97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200"/>
                        <a:t>~1.63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vs 2.0 A / 3.5 A UR30 budget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/>
              <a:t>Backup: Failure Modes and Safe-State Handling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The state machine in `bridge_daemon.py` drives all off-nominal behavior to a single </a:t>
            </a:r>
            <a:r>
              <a:rPr b="1" sz="1800"/>
              <a:t>FAULT</a:t>
            </a:r>
            <a:r>
              <a:rPr sz="1800"/>
              <a:t> state with the stepper disabled.</a:t>
            </a:r>
          </a:p>
          <a:p>
            <a:pPr/>
            <a:r>
              <a:rPr b="1" sz="1800"/>
              <a:t>Design principle:</a:t>
            </a:r>
            <a:r>
              <a:rPr sz="1800"/>
              <a:t> the stepper is off by default — every non-idle state is an explicit positive command. A lost connection cannot leave the motor running.</a:t>
            </a:r>
          </a:p>
          <a:p>
            <a:pPr/>
            <a:r>
              <a:rPr b="1" sz="1800"/>
              <a:t>Real-world gotchas actually hit during 2026-04-22 bring-up</a:t>
            </a:r>
            <a:r>
              <a:rPr sz="1800"/>
              <a:t> (now documented):</a:t>
            </a:r>
          </a:p>
          <a:p>
            <a:pPr lvl="1"/>
            <a:r>
              <a:rPr b="1" sz="1800"/>
              <a:t>UR30 inbound-access whitelist</a:t>
            </a:r>
            <a:r>
              <a:rPr sz="1800"/>
              <a:t> → Pi must use the allow-listed IP (`.4/32`); ICMP passes through but TCP to 29999/30001–30004 silently drops from other IPs.</a:t>
            </a:r>
          </a:p>
          <a:p>
            <a:pPr lvl="1"/>
            <a:r>
              <a:rPr b="1" sz="1800"/>
              <a:t>URScript top-level assignments</a:t>
            </a:r>
            <a:r>
              <a:rPr sz="1800"/>
              <a:t> → Secondary Interface (port 30002) silently rejects scripts with bare `X = 5` lines outside a `def`. Fix: put everything inside a function and call it at the end.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560320"/>
          <a:ext cx="82296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Failure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Detector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Response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Fallback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UR30 RTDE packet lost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`watchdog.py` — 500 ms timeout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≤ 500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stepper disabled, fault=1 → UR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Klippy socket closed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`klipper_client` reconnect loop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≤ 2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RECONNECTING state, exponential backoff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TMC2209 stall (pump blocked)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`stallguard_monitor` (Core1)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&lt; 1 ms hardware + 50 ms delivery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FAULT, error=stall → UR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TMC2209 thermal warning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`klipper_status` (20 Hz poll)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≤ 50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disable motor, notify UR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24 V power droop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TVS + bulk cap absorb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µs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Pi5V buck brownout, systemd restart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SIGTERM / reboot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systemd + `ExecStop`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≤ 500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G-code STEPPER off before exit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/>
              <a:t>Backup: RTDE Register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b="1" sz="1800"/>
              <a:t>UR30 → Pi (output)</a:t>
            </a:r>
          </a:p>
          <a:p>
            <a:pPr/>
            <a:r>
              <a:rPr b="1" sz="1800"/>
              <a:t>Pi → UR30 (input)</a:t>
            </a:r>
          </a:p>
          <a:p>
            <a:pPr/>
            <a:r>
              <a:rPr sz="1800"/>
              <a:t>`ur-rtde` restricts int/double indices to `[12,19]` outbound and `[18,22]` inbound; bit registers are not exposed through the Python bindings, so motion is gated on `mode != 0` (plus watchdog + pendant E-stop) rather than an enable bit.</a:t>
            </a:r>
          </a:p>
          <a:p>
            <a:pPr lvl="1"/>
            <a:r>
              <a:rPr sz="1800"/>
              <a:t>`output_int_register_12` — extrusion mode (0/1/2)</a:t>
            </a:r>
          </a:p>
          <a:p>
            <a:pPr lvl="1"/>
            <a:r>
              <a:rPr sz="1800"/>
              <a:t>`output_double_register_12` — commanded rate (mm/s)</a:t>
            </a:r>
          </a:p>
          <a:p>
            <a:pPr lvl="1"/>
            <a:r>
              <a:rPr sz="1800"/>
              <a:t>`output_double_register_13` — TCP speed (mm/s)</a:t>
            </a:r>
          </a:p>
          <a:p>
            <a:pPr lvl="1"/>
            <a:r>
              <a:rPr sz="1800"/>
              <a:t>`input_int_register_18` — status (0 idle / 1 running / 2 error / 3 homing)</a:t>
            </a:r>
          </a:p>
          <a:p>
            <a:pPr lvl="1"/>
            <a:r>
              <a:rPr sz="1800"/>
              <a:t>`input_int_register_19` — error code (0/1/2/3)</a:t>
            </a:r>
          </a:p>
          <a:p>
            <a:pPr lvl="1"/>
            <a:r>
              <a:rPr sz="1800"/>
              <a:t>`input_double_register_18` — actual rate (mm/s)</a:t>
            </a:r>
          </a:p>
          <a:p>
            <a:pPr lvl="1"/>
            <a:r>
              <a:rPr sz="1800"/>
              <a:t>`input_double_register_19` — StallGuard load (0–255, lower = higher load)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